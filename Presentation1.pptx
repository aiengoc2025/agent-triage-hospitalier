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58"/>
  </p:normalViewPr>
  <p:slideViewPr>
    <p:cSldViewPr snapToGrid="0">
      <p:cViewPr varScale="1">
        <p:scale>
          <a:sx n="91" d="100"/>
          <a:sy n="91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EBBA-D4EC-C0DA-4559-7101510EC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2F929-0196-62B5-80DC-F03EB3C58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0453D-4B5F-563D-A050-ED123C3D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C9566-F2CB-FF65-5F9E-F430E715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5405-297E-7576-912C-9A63F736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145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0EB9-FAF9-97D9-163D-CD6F4672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E2CA-25DA-9326-9329-1233F9AD4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B547-7DC9-A00A-84BF-B8219AAF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97F78-B054-E4CF-F770-72C98AF9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9B5D1-9ABC-0690-37B1-402C8DE4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84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6342-6B40-6687-AD9B-8C267981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10B07-9E87-0646-C57D-47A8E6122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64E6C-DE04-FCA6-1C70-EB5F6594E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2250-E411-A9F2-8BBC-57DE9B60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06C4-2501-BEE0-C3A8-6482F32F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748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2D4B-6DE7-4342-9F9C-1B2B2280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6A488-1872-D1DA-36A7-5F5986726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EE7B-D175-22F7-0799-82268E579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26BBA-4FE3-B835-190D-14D39B213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36541-FD7A-3B5A-D184-768F9825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FB89E-2F69-50E6-A40A-5CC39E2A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61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9176-E86C-E37E-D236-84A739336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A1819-C828-B893-A936-46DB9622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7B035-0B99-BDCA-300B-E18A87FF1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C3EC4-4120-AA50-4458-D4AEA79D5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9BCBE-C108-C134-4B8C-FBF2FE363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E0887-3912-5EFA-031D-1B93D1430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B821E-C187-26BF-ACFF-68EBD4D8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7FD134-F835-8931-B8F5-F5BD55AF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93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B762-7AEC-24C2-EB99-FF2C8AF6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A20CD-A103-1153-5D00-7DCBE9C15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12DB5-135B-34C4-4B04-2EAD07BD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89BDD-1F5F-C32C-5AD6-F466C70A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12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CA070-071D-C3B8-59F7-AF285F3E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03E4D5-C7DB-98AB-A48E-9B5596C5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BBAD1-6940-0DCA-8C2A-67DD8DF2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05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64D6-F46E-0BCA-5E00-15CCA9B6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18C36-8CD7-51E1-89CC-1E57680AA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87D1E-FEA7-A131-5D2E-4A8EE491B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8C60E-B33B-F67C-E849-36B94407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DBE67-D6C9-F864-6346-EE20BF48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B9AE4-861B-E269-B71D-4361C06D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83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BA12-22FC-77CD-FC1E-FB9B00AE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09649B-A808-387B-60E8-21AFD7AD1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4D7F-3339-E73B-057E-8B5FDAFE1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06CFE-F324-918F-974D-82F7C848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44C73-2F0A-EA9A-C823-347773E4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5BCB2-73E7-D349-E04F-0142A3FB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39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EE50-8BDD-5CC1-AD31-AF384416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E1809-46B1-CDE4-C3EF-A8DE2DE21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0642-560B-2DE7-78EA-07544DEA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0923-6C62-14C7-5C6B-17B00FEA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47384-8A35-900F-23A8-24AD3550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65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697D1-D130-2C2F-98CF-CB6226405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CB263-7E00-DE52-0CB9-DBA0FA95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D368A-7FC3-205C-B3C6-EF983080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2ECFD-69D8-7E60-43FB-A2F4C8CE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3756D-6283-9011-A749-12191171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38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172E9-1B17-7716-405D-7D49F2CC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B8EF6-C42D-D560-4199-B6F6618A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F30F-5D8E-4664-64F8-6203F0C99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0A1AF-E65B-EC4B-9788-C7116365DFF5}" type="datetimeFigureOut">
              <a:rPr lang="fr-FR" smtClean="0"/>
              <a:t>08/08/2026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C1F80-5C5D-C1CF-FE2E-D0ADAAA89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6E0A8-0688-B9C2-DD95-34F0DB17D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740E3-2775-C147-9885-67D8276235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773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dpo_convergence_Mpaga.p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F8CE-F320-F5C0-5207-424828F76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Agent de triage hospitalier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ED1EA-FBC7-72BB-B5F4-A17D56D0E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                                                                        par Christophe Mpaga</a:t>
            </a:r>
          </a:p>
        </p:txBody>
      </p:sp>
    </p:spTree>
    <p:extLst>
      <p:ext uri="{BB962C8B-B14F-4D97-AF65-F5344CB8AC3E}">
        <p14:creationId xmlns:p14="http://schemas.microsoft.com/office/powerpoint/2010/main" val="166142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A238-6480-7302-4634-EC2B5DF2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et Problématique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26BC-F5CC-1B5E-A9DA-98408D0B0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fr-FR" dirty="0"/>
              <a:t>Contexte </a:t>
            </a:r>
          </a:p>
          <a:p>
            <a:r>
              <a:rPr lang="fr-FR" dirty="0"/>
              <a:t>Le Centre Hospitalier Saint Aurelien (CHSA) fait face à une surcharge à l’accueil des patients au service d’urgence. </a:t>
            </a:r>
          </a:p>
          <a:p>
            <a:r>
              <a:rPr lang="fr-FR" dirty="0"/>
              <a:t>Urgence prononcée de trouver une solution viable.  </a:t>
            </a:r>
          </a:p>
          <a:p>
            <a:endParaRPr lang="fr-FR" dirty="0"/>
          </a:p>
          <a:p>
            <a:pPr>
              <a:buFont typeface="Wingdings" pitchFamily="2" charset="2"/>
              <a:buChar char="Ø"/>
            </a:pPr>
            <a:r>
              <a:rPr lang="fr-FR" dirty="0"/>
              <a:t>Problématique : </a:t>
            </a:r>
          </a:p>
          <a:p>
            <a:r>
              <a:rPr lang="fr-FR" dirty="0"/>
              <a:t>Comment désengorger le service d’accueil ? </a:t>
            </a:r>
          </a:p>
          <a:p>
            <a:r>
              <a:rPr lang="fr-FR" dirty="0"/>
              <a:t>Réponse RH =&gt;   embauche</a:t>
            </a:r>
          </a:p>
          <a:p>
            <a:r>
              <a:rPr lang="fr-FR" dirty="0"/>
              <a:t>Réponse technique =&gt; IA (agent intelligent d’accueil et d’orientation)</a:t>
            </a:r>
          </a:p>
        </p:txBody>
      </p:sp>
    </p:spTree>
    <p:extLst>
      <p:ext uri="{BB962C8B-B14F-4D97-AF65-F5344CB8AC3E}">
        <p14:creationId xmlns:p14="http://schemas.microsoft.com/office/powerpoint/2010/main" val="162404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AAA5C-C0C6-18C6-09AA-6C07D448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: implémentation d’un POC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72757-CAA6-4C63-C051-10EADB9DD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MLOPs</a:t>
            </a:r>
            <a:r>
              <a:rPr lang="fr-FR" dirty="0"/>
              <a:t> :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Collecte,  inspection  et préparation des données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Entraînement : </a:t>
            </a:r>
          </a:p>
          <a:p>
            <a:pPr marL="0" indent="0">
              <a:buNone/>
            </a:pPr>
            <a:r>
              <a:rPr lang="fr-FR" dirty="0"/>
              <a:t>          - SFT + </a:t>
            </a:r>
            <a:r>
              <a:rPr lang="fr-FR" dirty="0" err="1"/>
              <a:t>LoRA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- Alignement : DPO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Implémentation d’un agent IA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Déploiement </a:t>
            </a:r>
          </a:p>
        </p:txBody>
      </p:sp>
    </p:spTree>
    <p:extLst>
      <p:ext uri="{BB962C8B-B14F-4D97-AF65-F5344CB8AC3E}">
        <p14:creationId xmlns:p14="http://schemas.microsoft.com/office/powerpoint/2010/main" val="363999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DF9A-1305-09DB-8E3C-AB296F1B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7112-6DCA-7F16-F83E-DF8F12B4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: </a:t>
            </a:r>
            <a:r>
              <a:rPr lang="fr-FR" dirty="0" err="1"/>
              <a:t>MLOPs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18D1C-9697-34B2-8332-3007087F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/>
              <a:t>MLOPs</a:t>
            </a:r>
            <a:r>
              <a:rPr lang="fr-FR" dirty="0"/>
              <a:t> :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Collecte,  inspection  et préparation des données </a:t>
            </a:r>
            <a:r>
              <a:rPr lang="fr-FR" dirty="0" err="1"/>
              <a:t>depyis</a:t>
            </a:r>
            <a:r>
              <a:rPr lang="fr-FR" dirty="0"/>
              <a:t> les différentes sources suivantes :</a:t>
            </a:r>
          </a:p>
          <a:p>
            <a:pPr>
              <a:buFontTx/>
              <a:buChar char="-"/>
            </a:pPr>
            <a:r>
              <a:rPr lang="fr-FR" dirty="0" err="1"/>
              <a:t>MediQA</a:t>
            </a:r>
            <a:endParaRPr lang="fr-FR" dirty="0"/>
          </a:p>
          <a:p>
            <a:pPr>
              <a:buFontTx/>
              <a:buChar char="-"/>
            </a:pPr>
            <a:r>
              <a:rPr lang="fr-FR" dirty="0" err="1"/>
              <a:t>FrenchMedMCQA</a:t>
            </a:r>
            <a:endParaRPr lang="fr-FR" dirty="0"/>
          </a:p>
          <a:p>
            <a:pPr>
              <a:buFontTx/>
              <a:buChar char="-"/>
            </a:pPr>
            <a:r>
              <a:rPr lang="fr-FR" dirty="0" err="1"/>
              <a:t>MedQuad</a:t>
            </a:r>
            <a:endParaRPr lang="fr-FR" dirty="0"/>
          </a:p>
          <a:p>
            <a:pPr>
              <a:buFontTx/>
              <a:buChar char="-"/>
            </a:pPr>
            <a:r>
              <a:rPr lang="fr-FR" dirty="0" err="1"/>
              <a:t>UltraMedical</a:t>
            </a:r>
            <a:r>
              <a:rPr lang="fr-FR" dirty="0"/>
              <a:t> (DPO)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082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0433-D80A-6455-98DC-B17E60181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13DE-6DA6-0B53-88D4-A20E74DB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: </a:t>
            </a:r>
            <a:r>
              <a:rPr lang="fr-FR" dirty="0" err="1"/>
              <a:t>MLOPs</a:t>
            </a:r>
            <a:r>
              <a:rPr lang="fr-FR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16B46-3F05-E5D0-4AC9-9E003A9C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fr-FR" dirty="0"/>
              <a:t>Entraînement : </a:t>
            </a:r>
          </a:p>
          <a:p>
            <a:pPr marL="0" indent="0">
              <a:buNone/>
            </a:pPr>
            <a:r>
              <a:rPr lang="fr-FR" dirty="0"/>
              <a:t>          - SFT + </a:t>
            </a:r>
            <a:r>
              <a:rPr lang="fr-FR" dirty="0" err="1"/>
              <a:t>LoRA</a:t>
            </a:r>
            <a:r>
              <a:rPr lang="fr-FR" dirty="0"/>
              <a:t> sur </a:t>
            </a:r>
            <a:r>
              <a:rPr lang="fr-FR" dirty="0" err="1"/>
              <a:t>kaggle</a:t>
            </a:r>
            <a:r>
              <a:rPr lang="fr-FR" dirty="0"/>
              <a:t> notebook .</a:t>
            </a:r>
            <a:r>
              <a:rPr lang="fr-FR" dirty="0" err="1"/>
              <a:t>ipynb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    - python </a:t>
            </a:r>
          </a:p>
          <a:p>
            <a:pPr marL="0" indent="0">
              <a:buNone/>
            </a:pPr>
            <a:r>
              <a:rPr lang="fr-FR" dirty="0"/>
              <a:t>                 - GPU : 2x(NVIDIA) T4</a:t>
            </a:r>
          </a:p>
          <a:p>
            <a:pPr marL="0" indent="0">
              <a:buNone/>
            </a:pPr>
            <a:r>
              <a:rPr lang="fr-FR" dirty="0"/>
              <a:t>                 - 2 époques , </a:t>
            </a:r>
            <a:r>
              <a:rPr lang="fr-FR" dirty="0" err="1"/>
              <a:t>steps</a:t>
            </a:r>
            <a:r>
              <a:rPr lang="fr-FR" dirty="0"/>
              <a:t> = 5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       - Alignement : DPO </a:t>
            </a:r>
          </a:p>
          <a:p>
            <a:pPr marL="0" indent="0">
              <a:buNone/>
            </a:pPr>
            <a:r>
              <a:rPr lang="fr-FR" dirty="0"/>
              <a:t>                  -  python </a:t>
            </a:r>
          </a:p>
          <a:p>
            <a:pPr marL="0" indent="0">
              <a:buNone/>
            </a:pPr>
            <a:r>
              <a:rPr lang="fr-FR" dirty="0"/>
              <a:t>                   - GPU : 2x(NVIDIA) T4</a:t>
            </a:r>
          </a:p>
          <a:p>
            <a:pPr marL="0" indent="0">
              <a:buNone/>
            </a:pPr>
            <a:r>
              <a:rPr lang="fr-FR" dirty="0"/>
              <a:t>                   - 1 époque , </a:t>
            </a:r>
            <a:r>
              <a:rPr lang="fr-FR" dirty="0" err="1"/>
              <a:t>steps</a:t>
            </a:r>
            <a:r>
              <a:rPr lang="fr-FR" dirty="0"/>
              <a:t> = 5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97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96B4-DD20-27FC-6F0D-1BA11EB4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2BFF-12E3-E061-4BCB-D229D6FF3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: </a:t>
            </a:r>
            <a:r>
              <a:rPr lang="fr-FR" dirty="0" err="1"/>
              <a:t>AgentOps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3307E-D908-B309-71B8-584EE2DAF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fr-FR" dirty="0"/>
              <a:t>Implémentation d’un agent IA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Alignement  du modèle sur les poids entraînés 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test (CI-dev) </a:t>
            </a:r>
          </a:p>
          <a:p>
            <a:pPr marL="0" indent="0">
              <a:buNone/>
            </a:pPr>
            <a:r>
              <a:rPr lang="fr-FR" dirty="0"/>
              <a:t>  - moteur d’inférence : </a:t>
            </a:r>
            <a:r>
              <a:rPr lang="fr-FR" dirty="0" err="1"/>
              <a:t>vllm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- </a:t>
            </a:r>
            <a:r>
              <a:rPr lang="fr-FR" dirty="0" err="1"/>
              <a:t>llm</a:t>
            </a:r>
            <a:r>
              <a:rPr lang="fr-FR" dirty="0"/>
              <a:t> : Qwen3-1.7B-Base + modèle entraîné</a:t>
            </a:r>
          </a:p>
          <a:p>
            <a:pPr>
              <a:buFont typeface="Wingdings" pitchFamily="2" charset="2"/>
              <a:buChar char="Ø"/>
            </a:pPr>
            <a:r>
              <a:rPr lang="fr-FR" dirty="0"/>
              <a:t> Déploiement (CI/CD) : micro services sur Google cloud </a:t>
            </a:r>
            <a:r>
              <a:rPr lang="fr-FR" dirty="0" err="1"/>
              <a:t>plateform</a:t>
            </a:r>
            <a:r>
              <a:rPr lang="fr-FR" dirty="0"/>
              <a:t> (GCP)+ déclencheurs </a:t>
            </a:r>
            <a:r>
              <a:rPr lang="fr-FR" dirty="0" err="1"/>
              <a:t>gcp</a:t>
            </a:r>
            <a:r>
              <a:rPr lang="fr-FR" dirty="0"/>
              <a:t> </a:t>
            </a:r>
            <a:r>
              <a:rPr lang="fr-FR" dirty="0" err="1"/>
              <a:t>build</a:t>
            </a:r>
            <a:r>
              <a:rPr lang="fr-FR" dirty="0"/>
              <a:t> service. </a:t>
            </a:r>
          </a:p>
          <a:p>
            <a:pPr marL="0" indent="0">
              <a:buNone/>
            </a:pPr>
            <a:r>
              <a:rPr lang="fr-FR" dirty="0"/>
              <a:t> - cloud </a:t>
            </a:r>
            <a:r>
              <a:rPr lang="fr-FR" dirty="0" err="1"/>
              <a:t>storage</a:t>
            </a:r>
            <a:r>
              <a:rPr lang="fr-FR" dirty="0"/>
              <a:t> (artefact </a:t>
            </a:r>
            <a:r>
              <a:rPr lang="fr-FR" dirty="0" err="1"/>
              <a:t>registry</a:t>
            </a:r>
            <a:r>
              <a:rPr lang="fr-FR" dirty="0"/>
              <a:t> : google </a:t>
            </a:r>
            <a:r>
              <a:rPr lang="fr-FR" dirty="0" err="1"/>
              <a:t>bucket</a:t>
            </a:r>
            <a:r>
              <a:rPr lang="fr-FR" dirty="0"/>
              <a:t> pour le modèle </a:t>
            </a:r>
            <a:r>
              <a:rPr lang="fr-FR" dirty="0" err="1"/>
              <a:t>entr</a:t>
            </a:r>
            <a:r>
              <a:rPr lang="fr-FR" dirty="0"/>
              <a:t>.)</a:t>
            </a:r>
          </a:p>
          <a:p>
            <a:pPr marL="0" indent="0">
              <a:buNone/>
            </a:pPr>
            <a:r>
              <a:rPr lang="fr-FR" dirty="0"/>
              <a:t> - cloud </a:t>
            </a:r>
            <a:r>
              <a:rPr lang="fr-FR" dirty="0" err="1"/>
              <a:t>build</a:t>
            </a:r>
            <a:r>
              <a:rPr lang="fr-FR" dirty="0"/>
              <a:t> : construction des conteneurs docker</a:t>
            </a:r>
          </a:p>
          <a:p>
            <a:pPr marL="0" indent="0">
              <a:buNone/>
            </a:pPr>
            <a:r>
              <a:rPr lang="fr-FR" dirty="0"/>
              <a:t>- cloud run : déploiement des conteneurs</a:t>
            </a:r>
          </a:p>
        </p:txBody>
      </p:sp>
    </p:spTree>
    <p:extLst>
      <p:ext uri="{BB962C8B-B14F-4D97-AF65-F5344CB8AC3E}">
        <p14:creationId xmlns:p14="http://schemas.microsoft.com/office/powerpoint/2010/main" val="2252731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6A9C-2284-13BE-A7D0-E302B515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035D-49F0-8C7B-A6E1-F61BEC33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</a:t>
            </a:r>
            <a:r>
              <a:rPr lang="fr-FR" dirty="0" err="1"/>
              <a:t>AIOps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F3A7-2ECA-0826-6C28-B4772EA0E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fr-FR" dirty="0"/>
              <a:t> Nos résultats restent ceux d’un POC :</a:t>
            </a:r>
          </a:p>
          <a:p>
            <a:pPr marL="0" indent="0">
              <a:buNone/>
            </a:pPr>
            <a:r>
              <a:rPr lang="fr-FR" dirty="0" err="1"/>
              <a:t>MLOps</a:t>
            </a:r>
            <a:r>
              <a:rPr lang="fr-FR" dirty="0"/>
              <a:t> : entraînement à reconduire avec enrichissement des données .il s’agissait d’un POC. </a:t>
            </a:r>
          </a:p>
          <a:p>
            <a:pPr marL="0" indent="0">
              <a:buNone/>
            </a:pPr>
            <a:r>
              <a:rPr lang="fr-FR" dirty="0">
                <a:hlinkClick r:id="rId2"/>
              </a:rPr>
              <a:t>DPO1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AgentOPs</a:t>
            </a:r>
            <a:r>
              <a:rPr lang="fr-FR" dirty="0"/>
              <a:t> :  </a:t>
            </a:r>
            <a:r>
              <a:rPr lang="fr-FR" dirty="0" err="1"/>
              <a:t>llm</a:t>
            </a:r>
            <a:r>
              <a:rPr lang="fr-FR" dirty="0"/>
              <a:t> (fixé) + orchestrateur (</a:t>
            </a:r>
            <a:r>
              <a:rPr lang="fr-FR" dirty="0" err="1"/>
              <a:t>fastAPI</a:t>
            </a:r>
            <a:r>
              <a:rPr lang="fr-FR" dirty="0"/>
              <a:t>) + outils (</a:t>
            </a:r>
            <a:r>
              <a:rPr lang="fr-FR" dirty="0" err="1"/>
              <a:t>openai</a:t>
            </a:r>
            <a:r>
              <a:rPr lang="fr-FR" dirty="0"/>
              <a:t>-api-</a:t>
            </a:r>
            <a:r>
              <a:rPr lang="fr-FR" dirty="0" err="1"/>
              <a:t>vllm</a:t>
            </a:r>
            <a:r>
              <a:rPr lang="fr-FR" dirty="0"/>
              <a:t>, google-api-</a:t>
            </a:r>
            <a:r>
              <a:rPr lang="fr-FR" dirty="0" err="1"/>
              <a:t>gcp</a:t>
            </a:r>
            <a:r>
              <a:rPr lang="fr-FR" dirty="0"/>
              <a:t>, UI)</a:t>
            </a:r>
          </a:p>
          <a:p>
            <a:pPr marL="0" indent="0">
              <a:buNone/>
            </a:pPr>
            <a:r>
              <a:rPr lang="fr-FR" dirty="0" err="1"/>
              <a:t>vllm-remote</a:t>
            </a:r>
            <a:r>
              <a:rPr lang="fr-FR" dirty="0"/>
              <a:t> : prend la plus grosse part de la latence </a:t>
            </a:r>
          </a:p>
          <a:p>
            <a:pPr marL="0" indent="0">
              <a:buNone/>
            </a:pPr>
            <a:r>
              <a:rPr lang="fr-FR" dirty="0"/>
              <a:t>Data Engineering (Infra) : conteneurisation réussie + design modulaire (design micro services) après plusieurs design essayés. </a:t>
            </a:r>
          </a:p>
        </p:txBody>
      </p:sp>
    </p:spTree>
    <p:extLst>
      <p:ext uri="{BB962C8B-B14F-4D97-AF65-F5344CB8AC3E}">
        <p14:creationId xmlns:p14="http://schemas.microsoft.com/office/powerpoint/2010/main" val="102863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B1B9-7349-254B-0E24-591D263ED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64B8-30F6-1BB2-FB50-F17D8503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</a:t>
            </a:r>
            <a:r>
              <a:rPr lang="fr-FR" dirty="0" err="1"/>
              <a:t>AIOps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AFC1-B8C5-9FB3-A5A6-3EF91DF1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5417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fr-FR" dirty="0"/>
              <a:t> Nos résultats restent ceux d’un POC :</a:t>
            </a:r>
          </a:p>
          <a:p>
            <a:pPr marL="0" indent="0">
              <a:buNone/>
            </a:pPr>
            <a:r>
              <a:rPr lang="fr-FR" dirty="0" err="1"/>
              <a:t>MLOps</a:t>
            </a:r>
            <a:r>
              <a:rPr lang="fr-FR" dirty="0"/>
              <a:t> : entraînement allégé. 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AgentOPs</a:t>
            </a:r>
            <a:r>
              <a:rPr lang="fr-FR" dirty="0"/>
              <a:t> :  </a:t>
            </a:r>
            <a:r>
              <a:rPr lang="fr-FR" dirty="0" err="1"/>
              <a:t>llm</a:t>
            </a:r>
            <a:r>
              <a:rPr lang="fr-FR" dirty="0"/>
              <a:t> (entraîné) + orchestrateur (</a:t>
            </a:r>
            <a:r>
              <a:rPr lang="fr-FR" dirty="0" err="1"/>
              <a:t>fastAPI</a:t>
            </a:r>
            <a:r>
              <a:rPr lang="fr-FR" dirty="0"/>
              <a:t>) + outils (</a:t>
            </a:r>
            <a:r>
              <a:rPr lang="fr-FR" dirty="0" err="1"/>
              <a:t>openai</a:t>
            </a:r>
            <a:r>
              <a:rPr lang="fr-FR" dirty="0"/>
              <a:t>-api-</a:t>
            </a:r>
            <a:r>
              <a:rPr lang="fr-FR" dirty="0" err="1"/>
              <a:t>vllm</a:t>
            </a:r>
            <a:r>
              <a:rPr lang="fr-FR" dirty="0"/>
              <a:t>, google-api-</a:t>
            </a:r>
            <a:r>
              <a:rPr lang="fr-FR" dirty="0" err="1"/>
              <a:t>gcp</a:t>
            </a:r>
            <a:r>
              <a:rPr lang="fr-FR" dirty="0"/>
              <a:t>, UI)</a:t>
            </a:r>
          </a:p>
          <a:p>
            <a:pPr marL="0" indent="0">
              <a:buNone/>
            </a:pPr>
            <a:r>
              <a:rPr lang="fr-FR" dirty="0" err="1"/>
              <a:t>vllm-remote</a:t>
            </a:r>
            <a:r>
              <a:rPr lang="fr-FR" dirty="0"/>
              <a:t> : prend la plus grosse part de la latence </a:t>
            </a:r>
          </a:p>
          <a:p>
            <a:pPr marL="0" indent="0">
              <a:buNone/>
            </a:pPr>
            <a:r>
              <a:rPr lang="fr-FR" dirty="0"/>
              <a:t>Data Engineering (Infra) : conteneurisation + modulaire (design micro services) après plusieurs design + benchmark/profilage code +  infra. </a:t>
            </a:r>
          </a:p>
          <a:p>
            <a:pPr marL="0" indent="0">
              <a:buNone/>
            </a:pPr>
            <a:r>
              <a:rPr lang="fr-FR" dirty="0"/>
              <a:t>Triage : % faible </a:t>
            </a:r>
          </a:p>
        </p:txBody>
      </p:sp>
    </p:spTree>
    <p:extLst>
      <p:ext uri="{BB962C8B-B14F-4D97-AF65-F5344CB8AC3E}">
        <p14:creationId xmlns:p14="http://schemas.microsoft.com/office/powerpoint/2010/main" val="364998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6DB0-A66B-4693-A4AA-6B04CF63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4" y="383222"/>
            <a:ext cx="10515600" cy="1325563"/>
          </a:xfrm>
        </p:spPr>
        <p:txBody>
          <a:bodyPr/>
          <a:lstStyle/>
          <a:p>
            <a:r>
              <a:rPr lang="fr-FR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2A34-292C-60F7-810E-59B8A6AE8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04" y="1825625"/>
            <a:ext cx="10299996" cy="2395501"/>
          </a:xfrm>
        </p:spPr>
        <p:txBody>
          <a:bodyPr>
            <a:normAutofit/>
          </a:bodyPr>
          <a:lstStyle/>
          <a:p>
            <a:r>
              <a:rPr lang="en-FR" b="1" dirty="0"/>
              <a:t> </a:t>
            </a:r>
            <a:r>
              <a:rPr lang="en-FR" dirty="0"/>
              <a:t>Analyse détaillée par composant</a:t>
            </a:r>
          </a:p>
          <a:p>
            <a:endParaRPr lang="en-FR" b="1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  <a:p>
            <a:pPr marL="0" indent="0">
              <a:buNone/>
            </a:pPr>
            <a:endParaRPr lang="en-FR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F3BF276-8D28-B3CC-86E5-79E984295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585176"/>
              </p:ext>
            </p:extLst>
          </p:nvPr>
        </p:nvGraphicFramePr>
        <p:xfrm>
          <a:off x="1499191" y="2362673"/>
          <a:ext cx="6587343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729">
                  <a:extLst>
                    <a:ext uri="{9D8B030D-6E8A-4147-A177-3AD203B41FA5}">
                      <a16:colId xmlns:a16="http://schemas.microsoft.com/office/drawing/2014/main" val="2169431365"/>
                    </a:ext>
                  </a:extLst>
                </a:gridCol>
                <a:gridCol w="1646538">
                  <a:extLst>
                    <a:ext uri="{9D8B030D-6E8A-4147-A177-3AD203B41FA5}">
                      <a16:colId xmlns:a16="http://schemas.microsoft.com/office/drawing/2014/main" val="406874586"/>
                    </a:ext>
                  </a:extLst>
                </a:gridCol>
                <a:gridCol w="1646538">
                  <a:extLst>
                    <a:ext uri="{9D8B030D-6E8A-4147-A177-3AD203B41FA5}">
                      <a16:colId xmlns:a16="http://schemas.microsoft.com/office/drawing/2014/main" val="2020990888"/>
                    </a:ext>
                  </a:extLst>
                </a:gridCol>
                <a:gridCol w="1646538">
                  <a:extLst>
                    <a:ext uri="{9D8B030D-6E8A-4147-A177-3AD203B41FA5}">
                      <a16:colId xmlns:a16="http://schemas.microsoft.com/office/drawing/2014/main" val="1968747347"/>
                    </a:ext>
                  </a:extLst>
                </a:gridCol>
              </a:tblGrid>
              <a:tr h="378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Composant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Moyenne (ms)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p50 (ms)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p95 (ms)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502522"/>
                  </a:ext>
                </a:extLst>
              </a:tr>
              <a:tr h="378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TOTAL(Réseau)</a:t>
                      </a:r>
                      <a:endParaRPr lang="fr-FR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774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840</a:t>
                      </a: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944</a:t>
                      </a:r>
                      <a:endParaRPr lang="en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624525"/>
                  </a:ext>
                </a:extLst>
              </a:tr>
              <a:tr h="540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vLLM (Inférence)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674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763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162555"/>
                  </a:ext>
                </a:extLst>
              </a:tr>
              <a:tr h="378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</a:t>
                      </a:r>
                      <a:endParaRPr lang="fr-FR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278996"/>
                  </a:ext>
                </a:extLst>
              </a:tr>
              <a:tr h="3780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Presidio </a:t>
                      </a:r>
                      <a:r>
                        <a:rPr lang="en-FR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(Anonymisation)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01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39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A523A-4BB5-B53A-C73C-E8F0F56C0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Conclusions et recommandations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34C43-1D94-1FC3-E1B0-541760BFC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Notre POC est fonctionnel , mais le pourcentage du triage reste faible et  mitigé</a:t>
            </a:r>
          </a:p>
          <a:p>
            <a:r>
              <a:rPr lang="fr-FR" dirty="0"/>
              <a:t>Un budget de &lt; 500 € (infra seul ) pour un </a:t>
            </a:r>
            <a:r>
              <a:rPr lang="fr-FR" dirty="0" err="1"/>
              <a:t>mvp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Pour aller plus loin …</a:t>
            </a:r>
          </a:p>
          <a:p>
            <a:r>
              <a:rPr lang="fr-FR" dirty="0"/>
              <a:t> enrichir les données </a:t>
            </a:r>
          </a:p>
          <a:p>
            <a:r>
              <a:rPr lang="fr-FR" dirty="0"/>
              <a:t> réentraîner </a:t>
            </a:r>
          </a:p>
          <a:p>
            <a:r>
              <a:rPr lang="fr-FR" dirty="0"/>
              <a:t> réduire la latence</a:t>
            </a:r>
          </a:p>
          <a:p>
            <a:r>
              <a:rPr lang="fr-FR" dirty="0" err="1"/>
              <a:t>Benchmarker</a:t>
            </a:r>
            <a:r>
              <a:rPr lang="fr-FR" dirty="0"/>
              <a:t> : </a:t>
            </a:r>
            <a:r>
              <a:rPr lang="fr-FR" dirty="0" err="1"/>
              <a:t>llm</a:t>
            </a:r>
            <a:r>
              <a:rPr lang="fr-FR" dirty="0"/>
              <a:t> (Qwen3 vs modèle plus lourd), </a:t>
            </a:r>
            <a:r>
              <a:rPr lang="fr-FR" dirty="0" err="1"/>
              <a:t>vllm</a:t>
            </a:r>
            <a:r>
              <a:rPr lang="fr-FR" dirty="0"/>
              <a:t> vs </a:t>
            </a:r>
            <a:r>
              <a:rPr lang="fr-FR" dirty="0" err="1"/>
              <a:t>ollama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Cloud : </a:t>
            </a:r>
            <a:r>
              <a:rPr lang="fr-FR" dirty="0" err="1"/>
              <a:t>gcp</a:t>
            </a:r>
            <a:r>
              <a:rPr lang="fr-FR" dirty="0"/>
              <a:t>, </a:t>
            </a:r>
            <a:r>
              <a:rPr lang="fr-FR" dirty="0" err="1"/>
              <a:t>aws</a:t>
            </a:r>
            <a:r>
              <a:rPr lang="fr-FR" dirty="0"/>
              <a:t>, </a:t>
            </a:r>
            <a:r>
              <a:rPr lang="fr-FR" dirty="0" err="1"/>
              <a:t>vercel</a:t>
            </a:r>
            <a:r>
              <a:rPr lang="fr-FR" dirty="0"/>
              <a:t> , </a:t>
            </a:r>
            <a:r>
              <a:rPr lang="fr-FR" dirty="0" err="1"/>
              <a:t>heroku</a:t>
            </a:r>
            <a:r>
              <a:rPr lang="fr-FR" dirty="0"/>
              <a:t>, </a:t>
            </a:r>
            <a:r>
              <a:rPr lang="fr-FR" dirty="0" err="1"/>
              <a:t>fastapicloud</a:t>
            </a:r>
            <a:r>
              <a:rPr lang="fr-FR" dirty="0"/>
              <a:t> </a:t>
            </a:r>
          </a:p>
          <a:p>
            <a:r>
              <a:rPr lang="fr-FR" dirty="0"/>
              <a:t>Tech : data </a:t>
            </a:r>
            <a:r>
              <a:rPr lang="fr-FR" dirty="0" err="1"/>
              <a:t>engineer</a:t>
            </a:r>
            <a:r>
              <a:rPr lang="fr-FR" dirty="0"/>
              <a:t> + </a:t>
            </a:r>
            <a:r>
              <a:rPr lang="fr-FR"/>
              <a:t>cloud architecte/</a:t>
            </a:r>
            <a:r>
              <a:rPr lang="fr-FR" dirty="0"/>
              <a:t>data </a:t>
            </a:r>
            <a:r>
              <a:rPr lang="fr-FR" dirty="0" err="1"/>
              <a:t>scientist</a:t>
            </a:r>
            <a:r>
              <a:rPr lang="fr-FR" dirty="0"/>
              <a:t> en plus </a:t>
            </a:r>
          </a:p>
        </p:txBody>
      </p:sp>
    </p:spTree>
    <p:extLst>
      <p:ext uri="{BB962C8B-B14F-4D97-AF65-F5344CB8AC3E}">
        <p14:creationId xmlns:p14="http://schemas.microsoft.com/office/powerpoint/2010/main" val="3014866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708F8B-4D50-6848-5692-9F99AE87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           Merci pour votre attention !</a:t>
            </a:r>
          </a:p>
        </p:txBody>
      </p:sp>
    </p:spTree>
    <p:extLst>
      <p:ext uri="{BB962C8B-B14F-4D97-AF65-F5344CB8AC3E}">
        <p14:creationId xmlns:p14="http://schemas.microsoft.com/office/powerpoint/2010/main" val="262742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557</Words>
  <Application>Microsoft Macintosh PowerPoint</Application>
  <PresentationFormat>Widescreen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Agent de triage hospitalier </vt:lpstr>
      <vt:lpstr>Contexte et Problématique</vt:lpstr>
      <vt:lpstr>Méthode : implémentation d’un POC </vt:lpstr>
      <vt:lpstr>Méthode : MLOPs</vt:lpstr>
      <vt:lpstr>Méthode : MLOPs :</vt:lpstr>
      <vt:lpstr>Méthode : AgentOps</vt:lpstr>
      <vt:lpstr>Résultats AIOps</vt:lpstr>
      <vt:lpstr>Résultats AIOps</vt:lpstr>
      <vt:lpstr>Discussion</vt:lpstr>
      <vt:lpstr>Conclusions et recommandations</vt:lpstr>
      <vt:lpstr>           Merci pour votre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Mpaga</dc:creator>
  <cp:lastModifiedBy>Christophe Mpaga</cp:lastModifiedBy>
  <cp:revision>4</cp:revision>
  <dcterms:created xsi:type="dcterms:W3CDTF">2026-08-07T22:01:17Z</dcterms:created>
  <dcterms:modified xsi:type="dcterms:W3CDTF">2026-08-08T10:21:15Z</dcterms:modified>
</cp:coreProperties>
</file>