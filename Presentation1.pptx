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  <p:sldId id="266" r:id="rId12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94658"/>
  </p:normalViewPr>
  <p:slideViewPr>
    <p:cSldViewPr snapToGrid="0">
      <p:cViewPr varScale="1">
        <p:scale>
          <a:sx n="89" d="100"/>
          <a:sy n="89" d="100"/>
        </p:scale>
        <p:origin x="176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3EBBA-D4EC-C0DA-4559-7101510EC9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72F929-0196-62B5-80DC-F03EB3C585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0453D-4B5F-563D-A050-ED123C3D5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0A1AF-E65B-EC4B-9788-C7116365DFF5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6C9566-F2CB-FF65-5F9E-F430E7151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B5405-297E-7576-912C-9A63F736A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40E3-2775-C147-9885-67D82762354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1455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40EB9-FAF9-97D9-163D-CD6F46722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C1E2CA-25DA-9326-9329-1233F9AD4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AB547-7DC9-A00A-84BF-B8219AAF7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0A1AF-E65B-EC4B-9788-C7116365DFF5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97F78-B054-E4CF-F770-72C98AF90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9B5D1-9ABC-0690-37B1-402C8DE4E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40E3-2775-C147-9885-67D82762354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7845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66342-6B40-6687-AD9B-8C267981A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210B07-9E87-0646-C57D-47A8E6122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F64E6C-DE04-FCA6-1C70-EB5F6594E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0A1AF-E65B-EC4B-9788-C7116365DFF5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A42250-E411-A9F2-8BBC-57DE9B604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806C4-2501-BEE0-C3A8-6482F32F0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40E3-2775-C147-9885-67D82762354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74877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82D4B-6DE7-4342-9F9C-1B2B22802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6A488-1872-D1DA-36A7-5F5986726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1EEE7B-D175-22F7-0799-82268E5793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B26BBA-4FE3-B835-190D-14D39B213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0A1AF-E65B-EC4B-9788-C7116365DFF5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336541-FD7A-3B5A-D184-768F9825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1FB89E-2F69-50E6-A40A-5CC39E2A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40E3-2775-C147-9885-67D82762354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36121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19176-E86C-E37E-D236-84A739336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7A1819-C828-B893-A936-46DB9622F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27B035-0B99-BDCA-300B-E18A87FF13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4C3EC4-4120-AA50-4458-D4AEA79D52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D9BCBE-C108-C134-4B8C-FBF2FE3633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AE0887-3912-5EFA-031D-1B93D1430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0A1AF-E65B-EC4B-9788-C7116365DFF5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EB821E-C187-26BF-ACFF-68EBD4D80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7FD134-F835-8931-B8F5-F5BD55AF8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40E3-2775-C147-9885-67D82762354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9938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2B762-7AEC-24C2-EB99-FF2C8AF6D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DA20CD-A103-1153-5D00-7DCBE9C15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0A1AF-E65B-EC4B-9788-C7116365DFF5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D12DB5-135B-34C4-4B04-2EAD07BDE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289BDD-1F5F-C32C-5AD6-F466C70A4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40E3-2775-C147-9885-67D82762354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5126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5CA070-071D-C3B8-59F7-AF285F3E4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0A1AF-E65B-EC4B-9788-C7116365DFF5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03E4D5-C7DB-98AB-A48E-9B5596C52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BBAD1-6940-0DCA-8C2A-67DD8DF24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40E3-2775-C147-9885-67D82762354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30585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764D6-F46E-0BCA-5E00-15CCA9B6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18C36-8CD7-51E1-89CC-1E57680AA5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B87D1E-FEA7-A131-5D2E-4A8EE491B5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8C60E-B33B-F67C-E849-36B944077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0A1AF-E65B-EC4B-9788-C7116365DFF5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ADBE67-D6C9-F864-6346-EE20BF48F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8B9AE4-861B-E269-B71D-4361C06D4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40E3-2775-C147-9885-67D82762354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8834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5BA12-22FC-77CD-FC1E-FB9B00AEE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09649B-A808-387B-60E8-21AFD7AD1C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B94D7F-3339-E73B-057E-8B5FDAFE13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906CFE-F324-918F-974D-82F7C8487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0A1AF-E65B-EC4B-9788-C7116365DFF5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944C73-2F0A-EA9A-C823-347773E4B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A5BCB2-73E7-D349-E04F-0142A3FB6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40E3-2775-C147-9885-67D82762354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1396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FEE50-8BDD-5CC1-AD31-AF384416A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4E1809-46B1-CDE4-C3EF-A8DE2DE213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40642-560B-2DE7-78EA-07544DEA2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0A1AF-E65B-EC4B-9788-C7116365DFF5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90923-6C62-14C7-5C6B-17B00FEA9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47384-8A35-900F-23A8-24AD35505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40E3-2775-C147-9885-67D82762354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0651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8697D1-D130-2C2F-98CF-CB62264055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ACB263-7E00-DE52-0CB9-DBA0FA95D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CD368A-7FC3-205C-B3C6-EF983080F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0A1AF-E65B-EC4B-9788-C7116365DFF5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2ECFD-69D8-7E60-43FB-A2F4C8CE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3756D-6283-9011-A749-121911713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40E3-2775-C147-9885-67D82762354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6389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7172E9-1B17-7716-405D-7D49F2CCA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6B8EF6-C42D-D560-4199-B6F6618AD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3F30F-5D8E-4664-64F8-6203F0C996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0A1AF-E65B-EC4B-9788-C7116365DFF5}" type="datetimeFigureOut">
              <a:rPr lang="fr-FR" smtClean="0"/>
              <a:t>11/08/2026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FC1F80-5C5D-C1CF-FE2E-D0ADAAA89F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56E0A8-0688-B9C2-DD95-34F0DB17D5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5740E3-2775-C147-9885-67D82762354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7737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dpo_convergence_Mpaga.png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1F8CE-F320-F5C0-5207-424828F76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Agent de triage hospitalier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FED1EA-FBC7-72BB-B5F4-A17D56D0EA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  <a:p>
            <a:r>
              <a:rPr lang="fr-FR" dirty="0"/>
              <a:t>                                                                        par Christophe Mpaga</a:t>
            </a:r>
          </a:p>
        </p:txBody>
      </p:sp>
    </p:spTree>
    <p:extLst>
      <p:ext uri="{BB962C8B-B14F-4D97-AF65-F5344CB8AC3E}">
        <p14:creationId xmlns:p14="http://schemas.microsoft.com/office/powerpoint/2010/main" val="1661423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AA238-6480-7302-4634-EC2B5DF22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 et Problématique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E26BC-F5CC-1B5E-A9DA-98408D0B0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Wingdings" pitchFamily="2" charset="2"/>
              <a:buChar char="Ø"/>
            </a:pPr>
            <a:r>
              <a:rPr lang="fr-FR" dirty="0"/>
              <a:t>Contexte </a:t>
            </a:r>
          </a:p>
          <a:p>
            <a:r>
              <a:rPr lang="fr-FR" dirty="0"/>
              <a:t>Le Centre Hospitalier Saint Aurelien (CHSA) fait face à une surcharge à l’accueil des patients au service d’urgence. </a:t>
            </a:r>
          </a:p>
          <a:p>
            <a:r>
              <a:rPr lang="fr-FR" dirty="0"/>
              <a:t>La nécessité de trouver une solution effective est prononcée.  </a:t>
            </a:r>
          </a:p>
          <a:p>
            <a:endParaRPr lang="fr-FR" dirty="0"/>
          </a:p>
          <a:p>
            <a:pPr>
              <a:buFont typeface="Wingdings" pitchFamily="2" charset="2"/>
              <a:buChar char="Ø"/>
            </a:pPr>
            <a:r>
              <a:rPr lang="fr-FR" dirty="0"/>
              <a:t>Problématique : </a:t>
            </a:r>
          </a:p>
          <a:p>
            <a:r>
              <a:rPr lang="fr-FR" dirty="0"/>
              <a:t>Comment désengorger le service d’accueil ? </a:t>
            </a:r>
          </a:p>
          <a:p>
            <a:r>
              <a:rPr lang="fr-FR" dirty="0" err="1"/>
              <a:t>Hyp</a:t>
            </a:r>
            <a:r>
              <a:rPr lang="fr-FR" dirty="0"/>
              <a:t>.  RH =&gt;   embauche de nouveaux personnels. </a:t>
            </a:r>
          </a:p>
          <a:p>
            <a:r>
              <a:rPr lang="fr-FR" dirty="0" err="1"/>
              <a:t>Hyp</a:t>
            </a:r>
            <a:r>
              <a:rPr lang="fr-FR" dirty="0"/>
              <a:t>.  technique =&gt; IA (agent intelligent d’accueil et d’orientation)</a:t>
            </a:r>
          </a:p>
        </p:txBody>
      </p:sp>
    </p:spTree>
    <p:extLst>
      <p:ext uri="{BB962C8B-B14F-4D97-AF65-F5344CB8AC3E}">
        <p14:creationId xmlns:p14="http://schemas.microsoft.com/office/powerpoint/2010/main" val="1624047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AAA5C-C0C6-18C6-09AA-6C07D448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: implémentation du POC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72757-CAA6-4C63-C051-10EADB9DDE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b="1" dirty="0" err="1"/>
              <a:t>AIOps</a:t>
            </a:r>
            <a:r>
              <a:rPr lang="fr-FR" b="1" dirty="0"/>
              <a:t> = </a:t>
            </a:r>
            <a:r>
              <a:rPr lang="fr-FR" b="1" dirty="0" err="1"/>
              <a:t>MLOPs</a:t>
            </a:r>
            <a:r>
              <a:rPr lang="fr-FR" b="1" dirty="0"/>
              <a:t>  + </a:t>
            </a:r>
            <a:r>
              <a:rPr lang="fr-FR" b="1" dirty="0" err="1"/>
              <a:t>AgentOps</a:t>
            </a:r>
            <a:r>
              <a:rPr lang="fr-FR" b="1" dirty="0"/>
              <a:t> </a:t>
            </a:r>
            <a:endParaRPr lang="fr-FR" dirty="0"/>
          </a:p>
          <a:p>
            <a:pPr>
              <a:buFont typeface="Wingdings" pitchFamily="2" charset="2"/>
              <a:buChar char="Ø"/>
            </a:pPr>
            <a:r>
              <a:rPr lang="fr-FR" dirty="0"/>
              <a:t>Collecte,  inspection  et préparation des données</a:t>
            </a:r>
          </a:p>
          <a:p>
            <a:pPr>
              <a:buFont typeface="Wingdings" pitchFamily="2" charset="2"/>
              <a:buChar char="Ø"/>
            </a:pPr>
            <a:r>
              <a:rPr lang="fr-FR" dirty="0"/>
              <a:t> Entraînement : </a:t>
            </a:r>
          </a:p>
          <a:p>
            <a:pPr marL="0" indent="0">
              <a:buNone/>
            </a:pPr>
            <a:r>
              <a:rPr lang="fr-FR" dirty="0"/>
              <a:t>          - SFT + </a:t>
            </a:r>
            <a:r>
              <a:rPr lang="fr-FR" dirty="0" err="1"/>
              <a:t>LoRA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        - Alignement : DPO </a:t>
            </a:r>
          </a:p>
          <a:p>
            <a:pPr>
              <a:buFont typeface="Wingdings" pitchFamily="2" charset="2"/>
              <a:buChar char="Ø"/>
            </a:pPr>
            <a:r>
              <a:rPr lang="fr-FR" dirty="0"/>
              <a:t> Implémentation de  l’agent de triage</a:t>
            </a:r>
          </a:p>
          <a:p>
            <a:pPr>
              <a:buFont typeface="Wingdings" pitchFamily="2" charset="2"/>
              <a:buChar char="Ø"/>
            </a:pPr>
            <a:r>
              <a:rPr lang="fr-FR" dirty="0"/>
              <a:t> Déploiement </a:t>
            </a:r>
          </a:p>
        </p:txBody>
      </p:sp>
    </p:spTree>
    <p:extLst>
      <p:ext uri="{BB962C8B-B14F-4D97-AF65-F5344CB8AC3E}">
        <p14:creationId xmlns:p14="http://schemas.microsoft.com/office/powerpoint/2010/main" val="363999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6DF9A-1305-09DB-8E3C-AB296F1B9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07112-6DCA-7F16-F83E-DF8F12B4D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: </a:t>
            </a:r>
            <a:r>
              <a:rPr lang="fr-FR" dirty="0" err="1"/>
              <a:t>MLOPs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418D1C-9697-34B2-8332-3007087FD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 </a:t>
            </a:r>
            <a:r>
              <a:rPr lang="fr-FR" u="sng" dirty="0"/>
              <a:t>Acquisition des données:</a:t>
            </a:r>
          </a:p>
          <a:p>
            <a:pPr>
              <a:buFont typeface="Wingdings" pitchFamily="2" charset="2"/>
              <a:buChar char="Ø"/>
            </a:pPr>
            <a:r>
              <a:rPr lang="fr-FR" dirty="0"/>
              <a:t>Collecte,  inspection  et préparation des données depuis les différentes sources suivantes :</a:t>
            </a:r>
          </a:p>
          <a:p>
            <a:pPr>
              <a:buFontTx/>
              <a:buChar char="-"/>
            </a:pPr>
            <a:r>
              <a:rPr lang="fr-FR" dirty="0" err="1"/>
              <a:t>MediQA</a:t>
            </a:r>
            <a:endParaRPr lang="fr-FR" dirty="0"/>
          </a:p>
          <a:p>
            <a:pPr>
              <a:buFontTx/>
              <a:buChar char="-"/>
            </a:pPr>
            <a:r>
              <a:rPr lang="fr-FR" dirty="0" err="1"/>
              <a:t>FrenchMedMCQA</a:t>
            </a:r>
            <a:endParaRPr lang="fr-FR" dirty="0"/>
          </a:p>
          <a:p>
            <a:pPr>
              <a:buFontTx/>
              <a:buChar char="-"/>
            </a:pPr>
            <a:r>
              <a:rPr lang="fr-FR" dirty="0" err="1"/>
              <a:t>MedQuad</a:t>
            </a:r>
            <a:endParaRPr lang="fr-FR" dirty="0"/>
          </a:p>
          <a:p>
            <a:pPr>
              <a:buFontTx/>
              <a:buChar char="-"/>
            </a:pPr>
            <a:r>
              <a:rPr lang="fr-FR" dirty="0" err="1"/>
              <a:t>UltraMedical</a:t>
            </a:r>
            <a:r>
              <a:rPr lang="fr-FR" dirty="0"/>
              <a:t> (DPO)</a:t>
            </a:r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08237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50433-D80A-6455-98DC-B17E60181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F13DE-6DA6-0B53-88D4-A20E74DB3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: </a:t>
            </a:r>
            <a:r>
              <a:rPr lang="fr-FR" dirty="0" err="1"/>
              <a:t>MLOPs</a:t>
            </a:r>
            <a:r>
              <a:rPr lang="fr-FR" dirty="0"/>
              <a:t> 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16B46-3F05-E5D0-4AC9-9E003A9C2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u="sng" dirty="0"/>
              <a:t>Entraînement : </a:t>
            </a:r>
          </a:p>
          <a:p>
            <a:pPr>
              <a:buFont typeface="Wingdings" pitchFamily="2" charset="2"/>
              <a:buChar char="Ø"/>
            </a:pPr>
            <a:r>
              <a:rPr lang="fr-FR" dirty="0"/>
              <a:t>           SFT + </a:t>
            </a:r>
            <a:r>
              <a:rPr lang="fr-FR" dirty="0" err="1"/>
              <a:t>LoRA</a:t>
            </a:r>
            <a:r>
              <a:rPr lang="fr-FR" dirty="0"/>
              <a:t> sur </a:t>
            </a:r>
            <a:r>
              <a:rPr lang="fr-FR" dirty="0" err="1"/>
              <a:t>kaggle</a:t>
            </a:r>
            <a:r>
              <a:rPr lang="fr-FR" dirty="0"/>
              <a:t> notebook .</a:t>
            </a:r>
            <a:r>
              <a:rPr lang="fr-FR" dirty="0" err="1"/>
              <a:t>ipynb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            - python </a:t>
            </a:r>
          </a:p>
          <a:p>
            <a:pPr marL="0" indent="0">
              <a:buNone/>
            </a:pPr>
            <a:r>
              <a:rPr lang="fr-FR" dirty="0"/>
              <a:t>                 - GPU : 2x(NVIDIA) T4</a:t>
            </a:r>
          </a:p>
          <a:p>
            <a:pPr marL="0" indent="0">
              <a:buNone/>
            </a:pPr>
            <a:r>
              <a:rPr lang="fr-FR" dirty="0"/>
              <a:t>                 - 2 époques , </a:t>
            </a:r>
            <a:r>
              <a:rPr lang="fr-FR" dirty="0" err="1"/>
              <a:t>steps</a:t>
            </a:r>
            <a:r>
              <a:rPr lang="fr-FR" dirty="0"/>
              <a:t> = 5</a:t>
            </a:r>
          </a:p>
          <a:p>
            <a:pPr marL="0" indent="0">
              <a:buNone/>
            </a:pPr>
            <a:endParaRPr lang="fr-FR" dirty="0"/>
          </a:p>
          <a:p>
            <a:pPr>
              <a:buFont typeface="Wingdings" pitchFamily="2" charset="2"/>
              <a:buChar char="Ø"/>
            </a:pPr>
            <a:r>
              <a:rPr lang="fr-FR" dirty="0"/>
              <a:t>            Alignement : DPO </a:t>
            </a:r>
          </a:p>
          <a:p>
            <a:pPr marL="0" indent="0">
              <a:buNone/>
            </a:pPr>
            <a:r>
              <a:rPr lang="fr-FR" dirty="0"/>
              <a:t>                  -  python </a:t>
            </a:r>
          </a:p>
          <a:p>
            <a:pPr marL="0" indent="0">
              <a:buNone/>
            </a:pPr>
            <a:r>
              <a:rPr lang="fr-FR" dirty="0"/>
              <a:t>                   - GPU : 2x(NVIDIA) T4</a:t>
            </a:r>
          </a:p>
          <a:p>
            <a:pPr marL="0" indent="0">
              <a:buNone/>
            </a:pPr>
            <a:r>
              <a:rPr lang="fr-FR" dirty="0"/>
              <a:t>                   - 1 époque , </a:t>
            </a:r>
            <a:r>
              <a:rPr lang="fr-FR" dirty="0" err="1"/>
              <a:t>steps</a:t>
            </a:r>
            <a:r>
              <a:rPr lang="fr-FR" dirty="0"/>
              <a:t> = 5</a:t>
            </a:r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85976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796B4-DD20-27FC-6F0D-1BA11EB49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B2BFF-12E3-E061-4BCB-D229D6FF3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: </a:t>
            </a:r>
            <a:r>
              <a:rPr lang="fr-FR" dirty="0" err="1"/>
              <a:t>AgentOps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3307E-D908-B309-71B8-584EE2DAF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u="sng" dirty="0"/>
              <a:t>Implémentation d’un agent IA</a:t>
            </a:r>
          </a:p>
          <a:p>
            <a:pPr>
              <a:buFont typeface="Wingdings" pitchFamily="2" charset="2"/>
              <a:buChar char="Ø"/>
            </a:pPr>
            <a:r>
              <a:rPr lang="fr-FR" dirty="0"/>
              <a:t> Centre logique </a:t>
            </a:r>
          </a:p>
          <a:p>
            <a:pPr marL="0" indent="0">
              <a:buNone/>
            </a:pPr>
            <a:r>
              <a:rPr lang="fr-FR" dirty="0"/>
              <a:t>  - moteur d’inférence : </a:t>
            </a:r>
            <a:r>
              <a:rPr lang="fr-FR" dirty="0" err="1"/>
              <a:t>vllm</a:t>
            </a:r>
            <a:r>
              <a:rPr lang="fr-FR" dirty="0"/>
              <a:t> + </a:t>
            </a:r>
            <a:r>
              <a:rPr lang="fr-FR" dirty="0" err="1"/>
              <a:t>llm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- </a:t>
            </a:r>
            <a:r>
              <a:rPr lang="fr-FR" dirty="0" err="1"/>
              <a:t>llm</a:t>
            </a:r>
            <a:r>
              <a:rPr lang="fr-FR" dirty="0"/>
              <a:t> : Qwen3-1.7B-Base + modèle entraîné</a:t>
            </a:r>
          </a:p>
          <a:p>
            <a:pPr>
              <a:buFont typeface="Wingdings" pitchFamily="2" charset="2"/>
              <a:buChar char="Ø"/>
            </a:pPr>
            <a:r>
              <a:rPr lang="fr-FR" dirty="0"/>
              <a:t> Orchestrateur : </a:t>
            </a:r>
          </a:p>
          <a:p>
            <a:pPr marL="0" indent="0">
              <a:buNone/>
            </a:pPr>
            <a:r>
              <a:rPr lang="fr-FR" dirty="0"/>
              <a:t>  - API : </a:t>
            </a:r>
            <a:r>
              <a:rPr lang="fr-FR" dirty="0" err="1"/>
              <a:t>fastAPI</a:t>
            </a:r>
            <a:r>
              <a:rPr lang="fr-FR" dirty="0"/>
              <a:t>  </a:t>
            </a:r>
          </a:p>
          <a:p>
            <a:pPr>
              <a:buFont typeface="Wingdings" pitchFamily="2" charset="2"/>
              <a:buChar char="Ø"/>
            </a:pPr>
            <a:r>
              <a:rPr lang="fr-FR" dirty="0"/>
              <a:t> Outil : UI (</a:t>
            </a:r>
            <a:r>
              <a:rPr lang="fr-FR" dirty="0" err="1"/>
              <a:t>streamlit</a:t>
            </a:r>
            <a:r>
              <a:rPr lang="fr-FR" dirty="0"/>
              <a:t>) + </a:t>
            </a:r>
            <a:r>
              <a:rPr lang="fr-FR" dirty="0" err="1"/>
              <a:t>vllm</a:t>
            </a: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2731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16A9C-2284-13BE-A7D0-E302B5152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0035D-49F0-8C7B-A6E1-F61BEC331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</a:t>
            </a:r>
            <a:r>
              <a:rPr lang="fr-FR" dirty="0" err="1"/>
              <a:t>AIOps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6F3A7-2ECA-0826-6C28-B4772EA0E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Wingdings" pitchFamily="2" charset="2"/>
              <a:buChar char="Ø"/>
            </a:pPr>
            <a:r>
              <a:rPr lang="fr-FR" dirty="0"/>
              <a:t> Nos résultats restent ceux d’un POC :</a:t>
            </a:r>
          </a:p>
          <a:p>
            <a:pPr marL="0" indent="0">
              <a:buNone/>
            </a:pPr>
            <a:r>
              <a:rPr lang="fr-FR" dirty="0" err="1"/>
              <a:t>MLOps</a:t>
            </a:r>
            <a:r>
              <a:rPr lang="fr-FR" dirty="0"/>
              <a:t> : entraînement à reconduire avec enrichissement des données .il s’agissait d’un POC. </a:t>
            </a:r>
          </a:p>
          <a:p>
            <a:pPr marL="0" indent="0">
              <a:buNone/>
            </a:pPr>
            <a:r>
              <a:rPr lang="fr-FR" dirty="0">
                <a:hlinkClick r:id="rId2"/>
              </a:rPr>
              <a:t>DPO1</a:t>
            </a: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 err="1"/>
              <a:t>AgentOPs</a:t>
            </a:r>
            <a:r>
              <a:rPr lang="fr-FR" dirty="0"/>
              <a:t> :  </a:t>
            </a:r>
            <a:r>
              <a:rPr lang="fr-FR" dirty="0" err="1"/>
              <a:t>llm</a:t>
            </a:r>
            <a:r>
              <a:rPr lang="fr-FR" dirty="0"/>
              <a:t> (fixé) + orchestrateur (</a:t>
            </a:r>
            <a:r>
              <a:rPr lang="fr-FR" dirty="0" err="1"/>
              <a:t>fastAPI</a:t>
            </a:r>
            <a:r>
              <a:rPr lang="fr-FR" dirty="0"/>
              <a:t>) + outils (</a:t>
            </a:r>
            <a:r>
              <a:rPr lang="fr-FR" dirty="0" err="1"/>
              <a:t>openai</a:t>
            </a:r>
            <a:r>
              <a:rPr lang="fr-FR" dirty="0"/>
              <a:t>-api-</a:t>
            </a:r>
            <a:r>
              <a:rPr lang="fr-FR" dirty="0" err="1"/>
              <a:t>vllm</a:t>
            </a:r>
            <a:r>
              <a:rPr lang="fr-FR" dirty="0"/>
              <a:t>, google-api-</a:t>
            </a:r>
            <a:r>
              <a:rPr lang="fr-FR" dirty="0" err="1"/>
              <a:t>gcp</a:t>
            </a:r>
            <a:r>
              <a:rPr lang="fr-FR" dirty="0"/>
              <a:t>, UI)</a:t>
            </a:r>
          </a:p>
          <a:p>
            <a:pPr marL="0" indent="0">
              <a:buNone/>
            </a:pPr>
            <a:r>
              <a:rPr lang="fr-FR" dirty="0" err="1"/>
              <a:t>vllm-remote</a:t>
            </a:r>
            <a:r>
              <a:rPr lang="fr-FR" dirty="0"/>
              <a:t> : prend la plus grosse part de la latence </a:t>
            </a:r>
          </a:p>
          <a:p>
            <a:pPr marL="0" indent="0">
              <a:buNone/>
            </a:pPr>
            <a:r>
              <a:rPr lang="fr-FR" dirty="0"/>
              <a:t>Data Engineering (Infra) : conteneurisation réussie + design modulaire (design micro services) après plusieurs design essayés. </a:t>
            </a:r>
          </a:p>
        </p:txBody>
      </p:sp>
    </p:spTree>
    <p:extLst>
      <p:ext uri="{BB962C8B-B14F-4D97-AF65-F5344CB8AC3E}">
        <p14:creationId xmlns:p14="http://schemas.microsoft.com/office/powerpoint/2010/main" val="1028630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1B1B9-7349-254B-0E24-591D263ED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564B8-30F6-1BB2-FB50-F17D85033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 </a:t>
            </a:r>
            <a:r>
              <a:rPr lang="fr-FR" dirty="0" err="1"/>
              <a:t>AIOps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12AFC1-B8C5-9FB3-A5A6-3EF91DF19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15417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fr-FR" dirty="0"/>
              <a:t> Nos résultats restent ceux d’un POC :</a:t>
            </a:r>
          </a:p>
          <a:p>
            <a:pPr marL="0" indent="0">
              <a:buNone/>
            </a:pPr>
            <a:r>
              <a:rPr lang="fr-FR" dirty="0" err="1"/>
              <a:t>MLOps</a:t>
            </a:r>
            <a:r>
              <a:rPr lang="fr-FR" dirty="0"/>
              <a:t> : entraînement allégé.  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 err="1"/>
              <a:t>AgentOPs</a:t>
            </a:r>
            <a:r>
              <a:rPr lang="fr-FR" dirty="0"/>
              <a:t> :  </a:t>
            </a:r>
            <a:r>
              <a:rPr lang="fr-FR" dirty="0" err="1"/>
              <a:t>llm</a:t>
            </a:r>
            <a:r>
              <a:rPr lang="fr-FR" dirty="0"/>
              <a:t> (entraîné) + orchestrateur (</a:t>
            </a:r>
            <a:r>
              <a:rPr lang="fr-FR" dirty="0" err="1"/>
              <a:t>fastAPI</a:t>
            </a:r>
            <a:r>
              <a:rPr lang="fr-FR" dirty="0"/>
              <a:t>) + outils (</a:t>
            </a:r>
            <a:r>
              <a:rPr lang="fr-FR" dirty="0" err="1"/>
              <a:t>openai</a:t>
            </a:r>
            <a:r>
              <a:rPr lang="fr-FR" dirty="0"/>
              <a:t>-api-</a:t>
            </a:r>
            <a:r>
              <a:rPr lang="fr-FR" dirty="0" err="1"/>
              <a:t>vllm</a:t>
            </a:r>
            <a:r>
              <a:rPr lang="fr-FR" dirty="0"/>
              <a:t>, google-api-</a:t>
            </a:r>
            <a:r>
              <a:rPr lang="fr-FR" dirty="0" err="1"/>
              <a:t>gcp</a:t>
            </a:r>
            <a:r>
              <a:rPr lang="fr-FR" dirty="0"/>
              <a:t>, UI)</a:t>
            </a:r>
          </a:p>
          <a:p>
            <a:pPr marL="0" indent="0">
              <a:buNone/>
            </a:pPr>
            <a:r>
              <a:rPr lang="fr-FR" dirty="0" err="1"/>
              <a:t>vllm-remote</a:t>
            </a:r>
            <a:r>
              <a:rPr lang="fr-FR" dirty="0"/>
              <a:t> : prend la plus grosse part de la latence </a:t>
            </a:r>
          </a:p>
          <a:p>
            <a:pPr marL="0" indent="0">
              <a:buNone/>
            </a:pPr>
            <a:r>
              <a:rPr lang="fr-FR" dirty="0"/>
              <a:t>Data Engineering (Infra) : conteneurisation + modulaire (design micro services) après plusieurs design + benchmark/profilage code +  infra. </a:t>
            </a:r>
          </a:p>
          <a:p>
            <a:pPr marL="0" indent="0">
              <a:buNone/>
            </a:pPr>
            <a:r>
              <a:rPr lang="fr-FR" dirty="0"/>
              <a:t>Triage : % faible </a:t>
            </a:r>
          </a:p>
        </p:txBody>
      </p:sp>
    </p:spTree>
    <p:extLst>
      <p:ext uri="{BB962C8B-B14F-4D97-AF65-F5344CB8AC3E}">
        <p14:creationId xmlns:p14="http://schemas.microsoft.com/office/powerpoint/2010/main" val="3649980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36DB0-A66B-4693-A4AA-6B04CF630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74" y="383222"/>
            <a:ext cx="10515600" cy="1325563"/>
          </a:xfrm>
        </p:spPr>
        <p:txBody>
          <a:bodyPr/>
          <a:lstStyle/>
          <a:p>
            <a:r>
              <a:rPr lang="fr-FR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62A34-292C-60F7-810E-59B8A6AE8B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3804" y="1825625"/>
            <a:ext cx="10299996" cy="2395501"/>
          </a:xfrm>
        </p:spPr>
        <p:txBody>
          <a:bodyPr>
            <a:normAutofit/>
          </a:bodyPr>
          <a:lstStyle/>
          <a:p>
            <a:r>
              <a:rPr lang="en-FR" b="1" dirty="0"/>
              <a:t> </a:t>
            </a:r>
            <a:r>
              <a:rPr lang="en-FR" dirty="0"/>
              <a:t>Analyse détaillée par composant</a:t>
            </a:r>
          </a:p>
          <a:p>
            <a:endParaRPr lang="en-FR" b="1" dirty="0"/>
          </a:p>
          <a:p>
            <a:pPr marL="0" indent="0">
              <a:buNone/>
            </a:pPr>
            <a:endParaRPr lang="en-FR" dirty="0"/>
          </a:p>
          <a:p>
            <a:pPr marL="0" indent="0">
              <a:buNone/>
            </a:pPr>
            <a:endParaRPr lang="en-FR" dirty="0"/>
          </a:p>
          <a:p>
            <a:pPr marL="0" indent="0">
              <a:buNone/>
            </a:pPr>
            <a:endParaRPr lang="en-FR" dirty="0"/>
          </a:p>
          <a:p>
            <a:pPr marL="0" indent="0">
              <a:buNone/>
            </a:pPr>
            <a:endParaRPr lang="en-FR" dirty="0"/>
          </a:p>
          <a:p>
            <a:pPr marL="0" indent="0">
              <a:buNone/>
            </a:pPr>
            <a:endParaRPr lang="en-FR" dirty="0"/>
          </a:p>
          <a:p>
            <a:pPr marL="0" indent="0">
              <a:buNone/>
            </a:pPr>
            <a:endParaRPr lang="en-FR" dirty="0"/>
          </a:p>
          <a:p>
            <a:pPr marL="0" indent="0">
              <a:buNone/>
            </a:pPr>
            <a:endParaRPr lang="en-FR" dirty="0"/>
          </a:p>
          <a:p>
            <a:pPr marL="0" indent="0">
              <a:buNone/>
            </a:pPr>
            <a:endParaRPr lang="en-FR" dirty="0"/>
          </a:p>
          <a:p>
            <a:pPr marL="0" indent="0">
              <a:buNone/>
            </a:pPr>
            <a:endParaRPr lang="en-FR" dirty="0"/>
          </a:p>
          <a:p>
            <a:pPr marL="0" indent="0">
              <a:buNone/>
            </a:pPr>
            <a:endParaRPr lang="en-FR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5F3BF276-8D28-B3CC-86E5-79E9842959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585176"/>
              </p:ext>
            </p:extLst>
          </p:nvPr>
        </p:nvGraphicFramePr>
        <p:xfrm>
          <a:off x="1499191" y="2362673"/>
          <a:ext cx="6587343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7729">
                  <a:extLst>
                    <a:ext uri="{9D8B030D-6E8A-4147-A177-3AD203B41FA5}">
                      <a16:colId xmlns:a16="http://schemas.microsoft.com/office/drawing/2014/main" val="2169431365"/>
                    </a:ext>
                  </a:extLst>
                </a:gridCol>
                <a:gridCol w="1646538">
                  <a:extLst>
                    <a:ext uri="{9D8B030D-6E8A-4147-A177-3AD203B41FA5}">
                      <a16:colId xmlns:a16="http://schemas.microsoft.com/office/drawing/2014/main" val="406874586"/>
                    </a:ext>
                  </a:extLst>
                </a:gridCol>
                <a:gridCol w="1646538">
                  <a:extLst>
                    <a:ext uri="{9D8B030D-6E8A-4147-A177-3AD203B41FA5}">
                      <a16:colId xmlns:a16="http://schemas.microsoft.com/office/drawing/2014/main" val="2020990888"/>
                    </a:ext>
                  </a:extLst>
                </a:gridCol>
                <a:gridCol w="1646538">
                  <a:extLst>
                    <a:ext uri="{9D8B030D-6E8A-4147-A177-3AD203B41FA5}">
                      <a16:colId xmlns:a16="http://schemas.microsoft.com/office/drawing/2014/main" val="1968747347"/>
                    </a:ext>
                  </a:extLst>
                </a:gridCol>
              </a:tblGrid>
              <a:tr h="3780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Composant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Moyenne (ms)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p50 (ms)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p95 (ms) </a:t>
                      </a:r>
                    </a:p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0502522"/>
                  </a:ext>
                </a:extLst>
              </a:tr>
              <a:tr h="3780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TOTAL(Réseau)</a:t>
                      </a:r>
                      <a:endParaRPr lang="fr-FR" sz="16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774</a:t>
                      </a:r>
                      <a:endParaRPr lang="fr-FR" dirty="0"/>
                    </a:p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840</a:t>
                      </a:r>
                      <a:r>
                        <a:rPr lang="en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fr-FR" dirty="0"/>
                    </a:p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944</a:t>
                      </a:r>
                      <a:endParaRPr lang="en-FR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9624525"/>
                  </a:ext>
                </a:extLst>
              </a:tr>
              <a:tr h="5400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vLLM (Inférence)</a:t>
                      </a:r>
                    </a:p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674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754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763 </a:t>
                      </a:r>
                    </a:p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4162555"/>
                  </a:ext>
                </a:extLst>
              </a:tr>
              <a:tr h="3780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Audit</a:t>
                      </a:r>
                      <a:endParaRPr lang="fr-FR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23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 </a:t>
                      </a:r>
                    </a:p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278996"/>
                  </a:ext>
                </a:extLst>
              </a:tr>
              <a:tr h="3780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Presidio </a:t>
                      </a:r>
                      <a:r>
                        <a:rPr lang="en-FR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(Anonymisation)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 </a:t>
                      </a:r>
                    </a:p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10195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83978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A523A-4BB5-B53A-C73C-E8F0F56C0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Conclusions et recommandations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34C43-1D94-1FC3-E1B0-541760BFC3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/>
              <a:t>Notre POC est fonctionnel , mais le pourcentage du triage reste faible et  mitigé</a:t>
            </a:r>
          </a:p>
          <a:p>
            <a:r>
              <a:rPr lang="fr-FR" dirty="0"/>
              <a:t>Un budget de &lt; 500 € (infra seul ) pour un </a:t>
            </a:r>
            <a:r>
              <a:rPr lang="fr-FR" dirty="0" err="1"/>
              <a:t>mvp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Pour aller plus loin …</a:t>
            </a:r>
          </a:p>
          <a:p>
            <a:r>
              <a:rPr lang="fr-FR" dirty="0"/>
              <a:t> enrichir les données </a:t>
            </a:r>
          </a:p>
          <a:p>
            <a:r>
              <a:rPr lang="fr-FR" dirty="0"/>
              <a:t> réentraîner </a:t>
            </a:r>
          </a:p>
          <a:p>
            <a:r>
              <a:rPr lang="fr-FR" dirty="0"/>
              <a:t> réduire la latence</a:t>
            </a:r>
          </a:p>
          <a:p>
            <a:r>
              <a:rPr lang="fr-FR" dirty="0" err="1"/>
              <a:t>Benchmarker</a:t>
            </a:r>
            <a:r>
              <a:rPr lang="fr-FR" dirty="0"/>
              <a:t> : </a:t>
            </a:r>
            <a:r>
              <a:rPr lang="fr-FR" dirty="0" err="1"/>
              <a:t>llm</a:t>
            </a:r>
            <a:r>
              <a:rPr lang="fr-FR" dirty="0"/>
              <a:t> (Qwen3 vs modèle plus lourd), </a:t>
            </a:r>
            <a:r>
              <a:rPr lang="fr-FR" dirty="0" err="1"/>
              <a:t>vllm</a:t>
            </a:r>
            <a:r>
              <a:rPr lang="fr-FR" dirty="0"/>
              <a:t> vs </a:t>
            </a:r>
            <a:r>
              <a:rPr lang="fr-FR" dirty="0" err="1"/>
              <a:t>ollama</a:t>
            </a:r>
            <a:r>
              <a:rPr lang="fr-FR" dirty="0"/>
              <a:t> </a:t>
            </a:r>
          </a:p>
          <a:p>
            <a:pPr marL="0" indent="0">
              <a:buNone/>
            </a:pPr>
            <a:r>
              <a:rPr lang="fr-FR" dirty="0"/>
              <a:t>Cloud : </a:t>
            </a:r>
            <a:r>
              <a:rPr lang="fr-FR" dirty="0" err="1"/>
              <a:t>gcp</a:t>
            </a:r>
            <a:r>
              <a:rPr lang="fr-FR" dirty="0"/>
              <a:t>, </a:t>
            </a:r>
            <a:r>
              <a:rPr lang="fr-FR" dirty="0" err="1"/>
              <a:t>aws</a:t>
            </a:r>
            <a:r>
              <a:rPr lang="fr-FR" dirty="0"/>
              <a:t>, </a:t>
            </a:r>
            <a:r>
              <a:rPr lang="fr-FR" dirty="0" err="1"/>
              <a:t>vercel</a:t>
            </a:r>
            <a:r>
              <a:rPr lang="fr-FR" dirty="0"/>
              <a:t> , </a:t>
            </a:r>
            <a:r>
              <a:rPr lang="fr-FR" dirty="0" err="1"/>
              <a:t>heroku</a:t>
            </a:r>
            <a:r>
              <a:rPr lang="fr-FR" dirty="0"/>
              <a:t>, </a:t>
            </a:r>
            <a:r>
              <a:rPr lang="fr-FR" dirty="0" err="1"/>
              <a:t>fastapicloud</a:t>
            </a:r>
            <a:r>
              <a:rPr lang="fr-FR" dirty="0"/>
              <a:t> </a:t>
            </a:r>
          </a:p>
          <a:p>
            <a:r>
              <a:rPr lang="fr-FR" dirty="0"/>
              <a:t>Tech : data </a:t>
            </a:r>
            <a:r>
              <a:rPr lang="fr-FR" dirty="0" err="1"/>
              <a:t>engineer</a:t>
            </a:r>
            <a:r>
              <a:rPr lang="fr-FR" dirty="0"/>
              <a:t> + </a:t>
            </a:r>
            <a:r>
              <a:rPr lang="fr-FR"/>
              <a:t>cloud architecte/</a:t>
            </a:r>
            <a:r>
              <a:rPr lang="fr-FR" dirty="0"/>
              <a:t>data </a:t>
            </a:r>
            <a:r>
              <a:rPr lang="fr-FR" dirty="0" err="1"/>
              <a:t>scientist</a:t>
            </a:r>
            <a:r>
              <a:rPr lang="fr-FR" dirty="0"/>
              <a:t> en plus </a:t>
            </a:r>
          </a:p>
        </p:txBody>
      </p:sp>
    </p:spTree>
    <p:extLst>
      <p:ext uri="{BB962C8B-B14F-4D97-AF65-F5344CB8AC3E}">
        <p14:creationId xmlns:p14="http://schemas.microsoft.com/office/powerpoint/2010/main" val="3014866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708F8B-4D50-6848-5692-9F99AE879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3437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           Merci pour votre attention !</a:t>
            </a:r>
          </a:p>
        </p:txBody>
      </p:sp>
    </p:spTree>
    <p:extLst>
      <p:ext uri="{BB962C8B-B14F-4D97-AF65-F5344CB8AC3E}">
        <p14:creationId xmlns:p14="http://schemas.microsoft.com/office/powerpoint/2010/main" val="2627421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697</TotalTime>
  <Words>527</Words>
  <Application>Microsoft Macintosh PowerPoint</Application>
  <PresentationFormat>Widescreen</PresentationFormat>
  <Paragraphs>107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 Theme</vt:lpstr>
      <vt:lpstr>Agent de triage hospitalier </vt:lpstr>
      <vt:lpstr>Contexte et Problématique</vt:lpstr>
      <vt:lpstr>Méthode : implémentation du POC </vt:lpstr>
      <vt:lpstr>Méthode : MLOPs</vt:lpstr>
      <vt:lpstr>Méthode : MLOPs :</vt:lpstr>
      <vt:lpstr>Méthode : AgentOps</vt:lpstr>
      <vt:lpstr>Résultats AIOps</vt:lpstr>
      <vt:lpstr>Résultats AIOps</vt:lpstr>
      <vt:lpstr>Discussion</vt:lpstr>
      <vt:lpstr>Conclusions et recommandations</vt:lpstr>
      <vt:lpstr>           Merci pour votre attention 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Mpaga</dc:creator>
  <cp:lastModifiedBy>Christophe Mpaga</cp:lastModifiedBy>
  <cp:revision>5</cp:revision>
  <dcterms:created xsi:type="dcterms:W3CDTF">2026-08-07T22:01:17Z</dcterms:created>
  <dcterms:modified xsi:type="dcterms:W3CDTF">2026-08-11T18:23:07Z</dcterms:modified>
</cp:coreProperties>
</file>